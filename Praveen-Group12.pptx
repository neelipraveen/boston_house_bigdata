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embeddedFontLst>
    <p:embeddedFont>
      <p:font typeface="Inter" panose="02000503000000020004" pitchFamily="2" charset="0"/>
      <p:regular r:id="rId26"/>
      <p:bold r:id="rId27"/>
      <p:italic r:id="rId28"/>
      <p:boldItalic r:id="rId29"/>
    </p:embeddedFont>
    <p:embeddedFont>
      <p:font typeface="Oswald" panose="00000500000000000000" pitchFamily="2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3C1ED1C-5588-4F70-87C8-0480C8870130}">
  <a:tblStyle styleId="{43C1ED1C-5588-4F70-87C8-0480C887013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>
        <p:scale>
          <a:sx n="91" d="100"/>
          <a:sy n="91" d="100"/>
        </p:scale>
        <p:origin x="206" y="-2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a39d3c046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39a39d3c046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6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5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1.png"/><Relationship Id="rId4" Type="http://schemas.openxmlformats.org/officeDocument/2006/relationships/image" Target="../media/image37.png"/><Relationship Id="rId9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81475" y="3410842"/>
            <a:ext cx="3829050" cy="203061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05276" y="1416397"/>
            <a:ext cx="11581447" cy="101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BOSTON HOUSE PRICE PREDICTION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2664172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USING BIG DATA TECHNOLOGIES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476750" y="3706117"/>
            <a:ext cx="3238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Submitted By: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476750" y="4028033"/>
            <a:ext cx="3238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Praveen Neeli (AP25122060002)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476750" y="4302323"/>
            <a:ext cx="3238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Kalluri Pardhu Sankar (AP25122060031)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476750" y="4871888"/>
            <a:ext cx="3238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SRM University - AP, Andhra Pradesh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08808"/>
            <a:ext cx="5229225" cy="26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471737"/>
            <a:ext cx="5229225" cy="288592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971550" y="2999333"/>
            <a:ext cx="4670583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REAL-ESTATE VALUATION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71550" y="3561308"/>
            <a:ext cx="444817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Accurate property valuation is crucial for buyers, sellers, and investors but is often subject to human bias and volatile market factors. Reliable automated models are essential for transparency.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72275" y="2862262"/>
            <a:ext cx="4670583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THE SHIFT TO BIG DATA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72275" y="3424237"/>
            <a:ext cx="4448175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Traditional ML often relies on static CSVs. This project leverages a modern Big Data stack (Spark, Kafka, Hadoop) to simulate a production-grade environment capable of handling massive, real-time data streams efficiently.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INTRODUCTION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89783"/>
            <a:ext cx="2543175" cy="3289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9950" y="2789783"/>
            <a:ext cx="2543175" cy="3289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789783"/>
            <a:ext cx="2543175" cy="3289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67800" y="2789783"/>
            <a:ext cx="2543175" cy="328984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81025" y="1959322"/>
            <a:ext cx="11029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Objective: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 accurately forecast the Median Value of Owner-Occupied Homes (MEDV) in the Boston region.</a:t>
            </a:r>
            <a:endParaRPr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6300" y="3085058"/>
            <a:ext cx="1952625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827484" y="3837533"/>
            <a:ext cx="2050256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STREAM INTEGRATION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76300" y="4790033"/>
            <a:ext cx="19526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Moving from static files to simulated real-time ingestion.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705225" y="3085058"/>
            <a:ext cx="1952625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3656409" y="3837533"/>
            <a:ext cx="2050256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DATA QUALITY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3705225" y="4399508"/>
            <a:ext cx="195262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Handling noise and critical outliers in features like Crime Rate.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34150" y="3085058"/>
            <a:ext cx="1952625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6485334" y="3837533"/>
            <a:ext cx="2050256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SCALABILITY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534150" y="4399508"/>
            <a:ext cx="19526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Processing data using distributed clusters (Hadoop/Spark).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363075" y="3085058"/>
            <a:ext cx="1952625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9314259" y="3837533"/>
            <a:ext cx="2050256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USABILITY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363075" y="4399508"/>
            <a:ext cx="19526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Deploying the model via a user-friendly web interface.</a:t>
            </a:r>
            <a:endParaRPr/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24012" y="313268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52937" y="313268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81862" y="313268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082212" y="3132683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PROBLEM STATEMENT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866775" y="3086100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Exploratory Data Analysis: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Understanding complex feature relationships.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66775" y="3777555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Ingestion: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Deploy Apache Flume and Kafka for capturing live data.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66775" y="4469010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Storage: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Persist streamed data into HDFS securely.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667500" y="2949029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Processing: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 PySpark for distributed cleaning and scaling.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667500" y="3640484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Modeling: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Develop a high-precision Random Forest Regressor.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667500" y="4331940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Deployment: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Create a Flask web application for real-time inference.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PROJECT OBJECTIVES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10515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79660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48806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968079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659534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350990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727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771525" y="5810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MODEL PIPELINE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81025" y="581025"/>
            <a:ext cx="47700" cy="5907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10515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79660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48806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968079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659534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35099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725" y="1308275"/>
            <a:ext cx="11238298" cy="533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486275"/>
            <a:ext cx="2426493" cy="2072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8794" y="996404"/>
            <a:ext cx="2426493" cy="2346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6563" y="4486275"/>
            <a:ext cx="2426493" cy="2346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84332" y="1661219"/>
            <a:ext cx="2426493" cy="168205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/>
          <p:nvPr/>
        </p:nvSpPr>
        <p:spPr>
          <a:xfrm>
            <a:off x="1699021" y="38195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4566791" y="38195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7434560" y="38195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10302329" y="38195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581025" y="3914775"/>
            <a:ext cx="11029950" cy="19050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730388" y="4686300"/>
            <a:ext cx="2127765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1. SOURCE &amp; INGESTION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781050" y="5638800"/>
            <a:ext cx="2026443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Python IoT Simulator → Apache Flume (Netcat)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3598158" y="1196429"/>
            <a:ext cx="2127765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2. BUFFERING &amp; STORAGE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3648819" y="2148929"/>
            <a:ext cx="2026443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Apache Kafka → Hadoop HDFS (Distributed Storage)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465927" y="4686300"/>
            <a:ext cx="2127765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3. PROCESSING &amp; ML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516588" y="5638800"/>
            <a:ext cx="2026443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Apache Spark (PySpark) for cleaning, scaling &amp; training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9333696" y="1861244"/>
            <a:ext cx="212776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4. DEPLOYMENT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9384357" y="2423219"/>
            <a:ext cx="2026443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Flask Web App for User Interaction &amp; Prediction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ARCHITECTURE PIPELINE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47900"/>
            <a:ext cx="522922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257425"/>
            <a:ext cx="521017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866775" y="2806154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Netcat listening on localhost:44444.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866775" y="3223319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Channel: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Memory channel with capacity 1000.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866775" y="3640484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Sink: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HDFS writing to /user/praveen/python_flume_try/.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866775" y="4057650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Rollover: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Files roll every 100 events or 30 seconds for low latency.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866775" y="4749105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Role: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Bridges real-time python stream to Hadoop.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DATA INGESTION (FLUME)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825204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242369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659534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07670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768155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47900"/>
            <a:ext cx="522922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581025" y="2735609"/>
            <a:ext cx="52292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custom Python script was designed to mimic IoT sensors, generating random housing records based on the Boston dataset schema.</a:t>
            </a:r>
            <a:endParaRPr/>
          </a:p>
        </p:txBody>
      </p:sp>
      <p:pic>
        <p:nvPicPr>
          <p:cNvPr id="216" name="Google Shape;21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257425"/>
            <a:ext cx="521017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866775" y="3729930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Streams exactly 100 CSV rows to the Flume network port.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866775" y="4147095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Sends attributes like CRIM, ZN, INDUS, etc., in real-time intervals.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866775" y="4838551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Simulates a live data feed for the Big Data pipeline test.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REAL-TIME DATA GENERATION</a:t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74898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16614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857601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47900"/>
            <a:ext cx="522922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581025" y="2780407"/>
            <a:ext cx="5490686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HDFS INTEGRATION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581025" y="3342382"/>
            <a:ext cx="52292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 is securely stored in the Hadoop Distributed File System.</a:t>
            </a:r>
            <a:endParaRPr/>
          </a:p>
        </p:txBody>
      </p:sp>
      <p:pic>
        <p:nvPicPr>
          <p:cNvPr id="233" name="Google Shape;23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257425"/>
            <a:ext cx="521017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/>
        </p:nvSpPr>
        <p:spPr>
          <a:xfrm>
            <a:off x="866775" y="3788122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Directory: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/user/praveen/python_flume_try/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866775" y="4205287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Format: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Stored as DataStream (CSV format).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866775" y="4622452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Verification: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Ingestion verified via hdfs dfs -ls.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HADOOP STORAGE LAYER</a:t>
            </a:r>
            <a:endParaRPr/>
          </a:p>
        </p:txBody>
      </p:sp>
      <p:sp>
        <p:nvSpPr>
          <p:cNvPr id="238" name="Google Shape;238;p21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80717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224337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641502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 txBox="1"/>
          <p:nvPr/>
        </p:nvSpPr>
        <p:spPr>
          <a:xfrm>
            <a:off x="581025" y="2401341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Schema Definition: 13 Input Features + 1 Target (MEDV)</a:t>
            </a:r>
            <a:endParaRPr/>
          </a:p>
        </p:txBody>
      </p:sp>
      <p:graphicFrame>
        <p:nvGraphicFramePr>
          <p:cNvPr id="248" name="Google Shape;248;p22"/>
          <p:cNvGraphicFramePr/>
          <p:nvPr/>
        </p:nvGraphicFramePr>
        <p:xfrm>
          <a:off x="581025" y="3037582"/>
          <a:ext cx="11029950" cy="2562100"/>
        </p:xfrm>
        <a:graphic>
          <a:graphicData uri="http://schemas.openxmlformats.org/drawingml/2006/table">
            <a:tbl>
              <a:tblPr firstRow="1" bandRow="1">
                <a:noFill/>
                <a:tableStyleId>{43C1ED1C-5588-4F70-87C8-0480C8870130}</a:tableStyleId>
              </a:tblPr>
              <a:tblGrid>
                <a:gridCol w="144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A64D79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Type</a:t>
                      </a:r>
                      <a:endParaRPr>
                        <a:solidFill>
                          <a:srgbClr val="A64D79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A64D79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Features</a:t>
                      </a:r>
                      <a:endParaRPr>
                        <a:solidFill>
                          <a:srgbClr val="A64D79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B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783F0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Double (Float)</a:t>
                      </a:r>
                      <a:endParaRPr>
                        <a:solidFill>
                          <a:srgbClr val="783F04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783F0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CRIM (Crime), ZN (Zone), INDUS (Industry), NOX (Nitric Oxides), RM (Rooms), AGE, DIS (Distance), PTRATIO, B, LSTAT</a:t>
                      </a:r>
                      <a:endParaRPr>
                        <a:solidFill>
                          <a:srgbClr val="783F04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783F0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Integer</a:t>
                      </a:r>
                      <a:endParaRPr>
                        <a:solidFill>
                          <a:srgbClr val="783F04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783F0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CHAS (Charles River), RAD (Radial Highway Access), TAX (Tax Rate)</a:t>
                      </a:r>
                      <a:endParaRPr>
                        <a:solidFill>
                          <a:srgbClr val="783F04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783F0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Target</a:t>
                      </a:r>
                      <a:endParaRPr>
                        <a:solidFill>
                          <a:srgbClr val="783F04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783F0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MEDV (Median Home Value)</a:t>
                      </a:r>
                      <a:endParaRPr>
                        <a:solidFill>
                          <a:srgbClr val="783F04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9" name="Google Shape;249;p22"/>
          <p:cNvSpPr/>
          <p:nvPr/>
        </p:nvSpPr>
        <p:spPr>
          <a:xfrm>
            <a:off x="581025" y="3588097"/>
            <a:ext cx="1440953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2021978" y="3588097"/>
            <a:ext cx="9588996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581025" y="4446240"/>
            <a:ext cx="144095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2021978" y="4446240"/>
            <a:ext cx="958899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581025" y="5015805"/>
            <a:ext cx="144095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2021978" y="5015805"/>
            <a:ext cx="958899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581025" y="5585370"/>
            <a:ext cx="144095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2021978" y="5585370"/>
            <a:ext cx="958899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DATASET OVERVIEW</a:t>
            </a:r>
            <a:endParaRPr/>
          </a:p>
        </p:txBody>
      </p:sp>
      <p:sp>
        <p:nvSpPr>
          <p:cNvPr id="258" name="Google Shape;258;p22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47900"/>
            <a:ext cx="522922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3"/>
          <p:cNvSpPr txBox="1"/>
          <p:nvPr/>
        </p:nvSpPr>
        <p:spPr>
          <a:xfrm>
            <a:off x="581025" y="2601366"/>
            <a:ext cx="5490686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KEY CORRELATIONS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866775" y="3144291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Crime Rate vs. Price: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Strong negative correlation. Higher crime areas have significantly lower property values.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866775" y="3835747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Rooms (RM):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Positive correlation. More rooms generally indicate higher value.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866775" y="4527202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LSTAT: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Negative correlation. Higher percentage of lower status population correlates with lower home values.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EXPLORATORY DATA ANALYSIS</a:t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16334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854797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54625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1700" y="1784525"/>
            <a:ext cx="5731874" cy="379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46027"/>
            <a:ext cx="5229225" cy="2337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608957"/>
            <a:ext cx="5229225" cy="261163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4"/>
          <p:cNvSpPr txBox="1"/>
          <p:nvPr/>
        </p:nvSpPr>
        <p:spPr>
          <a:xfrm>
            <a:off x="971550" y="3136552"/>
            <a:ext cx="4670583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METHODOLOGY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971550" y="3698527"/>
            <a:ext cx="44481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Applied an iterative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3xIQR (Interquartile Range)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method to identify and remove extreme values without losing critical information.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6772275" y="2999482"/>
            <a:ext cx="4670583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KEY IMPACT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6772275" y="3561457"/>
            <a:ext cx="444817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Significant noise reduction in CRIM (Crime Rate) and RM (Rooms). Rows with extreme outliers (e.g., ~24 crime, ~56 room outliers) were filtered to improve model stability.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OUTLIER REMOVAL</a:t>
            </a:r>
            <a:endParaRPr/>
          </a:p>
        </p:txBody>
      </p:sp>
      <p:sp>
        <p:nvSpPr>
          <p:cNvPr id="287" name="Google Shape;287;p24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47900"/>
            <a:ext cx="522922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5"/>
          <p:cNvSpPr txBox="1"/>
          <p:nvPr/>
        </p:nvSpPr>
        <p:spPr>
          <a:xfrm>
            <a:off x="581025" y="2495550"/>
            <a:ext cx="5490686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VECTOR ASSEMBLER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581025" y="3057525"/>
            <a:ext cx="52292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Consolidated 13 individual feature columns into a single features vector column required by Spark MLlib.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581025" y="3777555"/>
            <a:ext cx="5490686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MINMAX SCALER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581025" y="4339530"/>
            <a:ext cx="52292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Normalized all features to a range of [0, 1]. This prevents features with large scales (like Tax ~700) from dominating features with small scales (like NOX ~0.5).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FEATURE ENGINEERING</a:t>
            </a:r>
            <a:endParaRPr/>
          </a:p>
        </p:txBody>
      </p:sp>
      <p:sp>
        <p:nvSpPr>
          <p:cNvPr id="299" name="Google Shape;299;p25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1650" y="2249900"/>
            <a:ext cx="5808251" cy="34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47900"/>
            <a:ext cx="522922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6"/>
          <p:cNvSpPr txBox="1"/>
          <p:nvPr/>
        </p:nvSpPr>
        <p:spPr>
          <a:xfrm>
            <a:off x="581025" y="2359372"/>
            <a:ext cx="5490686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WHY RANDOM FOREST?</a:t>
            </a:r>
            <a:endParaRPr/>
          </a:p>
        </p:txBody>
      </p:sp>
      <p:sp>
        <p:nvSpPr>
          <p:cNvPr id="308" name="Google Shape;308;p26"/>
          <p:cNvSpPr txBox="1"/>
          <p:nvPr/>
        </p:nvSpPr>
        <p:spPr>
          <a:xfrm>
            <a:off x="581025" y="5024288"/>
            <a:ext cx="52292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Pipeline: Assembler → Scaler → Random Forest</a:t>
            </a:r>
            <a:endParaRPr/>
          </a:p>
        </p:txBody>
      </p:sp>
      <p:pic>
        <p:nvPicPr>
          <p:cNvPr id="309" name="Google Shape;309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257425"/>
            <a:ext cx="521017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6"/>
          <p:cNvSpPr txBox="1"/>
          <p:nvPr/>
        </p:nvSpPr>
        <p:spPr>
          <a:xfrm>
            <a:off x="866775" y="2902297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Non-Linearity: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Handles complex, non-linear relationships better than Linear Regression.</a:t>
            </a:r>
            <a:endParaRPr/>
          </a:p>
        </p:txBody>
      </p:sp>
      <p:sp>
        <p:nvSpPr>
          <p:cNvPr id="311" name="Google Shape;311;p26"/>
          <p:cNvSpPr txBox="1"/>
          <p:nvPr/>
        </p:nvSpPr>
        <p:spPr>
          <a:xfrm>
            <a:off x="866775" y="3593752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Ensemble Power: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Robust against overfitting by averaging multiple decision trees.</a:t>
            </a:r>
            <a:endParaRPr/>
          </a:p>
        </p:txBody>
      </p:sp>
      <p:sp>
        <p:nvSpPr>
          <p:cNvPr id="312" name="Google Shape;312;p26"/>
          <p:cNvSpPr txBox="1"/>
          <p:nvPr/>
        </p:nvSpPr>
        <p:spPr>
          <a:xfrm>
            <a:off x="866775" y="4285208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Interaction: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Captures complex interactions between features like Location and Crime.</a:t>
            </a:r>
            <a:endParaRPr/>
          </a:p>
        </p:txBody>
      </p:sp>
      <p:sp>
        <p:nvSpPr>
          <p:cNvPr id="313" name="Google Shape;313;p26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RANDOM FOREST REGRESSOR</a:t>
            </a:r>
            <a:endParaRPr/>
          </a:p>
        </p:txBody>
      </p:sp>
      <p:sp>
        <p:nvSpPr>
          <p:cNvPr id="314" name="Google Shape;314;p26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921347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61280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304258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65040"/>
            <a:ext cx="3486150" cy="2899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465040"/>
            <a:ext cx="3486150" cy="2899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465040"/>
            <a:ext cx="3486150" cy="2899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760315"/>
            <a:ext cx="289560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7"/>
          <p:cNvSpPr txBox="1"/>
          <p:nvPr/>
        </p:nvSpPr>
        <p:spPr>
          <a:xfrm>
            <a:off x="803910" y="3512790"/>
            <a:ext cx="304038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NUMTREES = 100</a:t>
            </a:r>
            <a:endParaRPr/>
          </a:p>
        </p:txBody>
      </p:sp>
      <p:sp>
        <p:nvSpPr>
          <p:cNvPr id="328" name="Google Shape;328;p27"/>
          <p:cNvSpPr txBox="1"/>
          <p:nvPr/>
        </p:nvSpPr>
        <p:spPr>
          <a:xfrm>
            <a:off x="876300" y="4074765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Number of trees in the forest. More trees generally increase accuracy.</a:t>
            </a:r>
            <a:endParaRPr/>
          </a:p>
        </p:txBody>
      </p:sp>
      <p:pic>
        <p:nvPicPr>
          <p:cNvPr id="329" name="Google Shape;329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8200" y="2760315"/>
            <a:ext cx="289560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7"/>
          <p:cNvSpPr txBox="1"/>
          <p:nvPr/>
        </p:nvSpPr>
        <p:spPr>
          <a:xfrm>
            <a:off x="4575810" y="3512790"/>
            <a:ext cx="304038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MAXDEPTH = 30</a:t>
            </a:r>
            <a:endParaRPr/>
          </a:p>
        </p:txBody>
      </p:sp>
      <p:sp>
        <p:nvSpPr>
          <p:cNvPr id="331" name="Google Shape;331;p27"/>
          <p:cNvSpPr txBox="1"/>
          <p:nvPr/>
        </p:nvSpPr>
        <p:spPr>
          <a:xfrm>
            <a:off x="4648200" y="4074765"/>
            <a:ext cx="28956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Maximum depth of each tree. Capture deeper patterns.</a:t>
            </a:r>
            <a:endParaRPr/>
          </a:p>
        </p:txBody>
      </p:sp>
      <p:pic>
        <p:nvPicPr>
          <p:cNvPr id="332" name="Google Shape;332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20100" y="2760315"/>
            <a:ext cx="289560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7"/>
          <p:cNvSpPr txBox="1"/>
          <p:nvPr/>
        </p:nvSpPr>
        <p:spPr>
          <a:xfrm>
            <a:off x="8347710" y="3512790"/>
            <a:ext cx="304038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MAXBINS = 128</a:t>
            </a:r>
            <a:endParaRPr/>
          </a:p>
        </p:txBody>
      </p:sp>
      <p:sp>
        <p:nvSpPr>
          <p:cNvPr id="334" name="Google Shape;334;p27"/>
          <p:cNvSpPr txBox="1"/>
          <p:nvPr/>
        </p:nvSpPr>
        <p:spPr>
          <a:xfrm>
            <a:off x="8420100" y="4074765"/>
            <a:ext cx="28956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Number of bins used for splitting. Seed fixed at 42.</a:t>
            </a:r>
            <a:endParaRPr/>
          </a:p>
        </p:txBody>
      </p:sp>
      <p:pic>
        <p:nvPicPr>
          <p:cNvPr id="335" name="Google Shape;335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24075" y="280794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38825" y="280794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10725" y="280794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7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HYPERPARAMETERS</a:t>
            </a:r>
            <a:endParaRPr/>
          </a:p>
        </p:txBody>
      </p:sp>
      <p:sp>
        <p:nvSpPr>
          <p:cNvPr id="339" name="Google Shape;339;p27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52575"/>
            <a:ext cx="1102995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8"/>
          <p:cNvSpPr txBox="1"/>
          <p:nvPr/>
        </p:nvSpPr>
        <p:spPr>
          <a:xfrm>
            <a:off x="581025" y="5263455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Random split ensures a representative distribution of data in both sets.</a:t>
            </a:r>
            <a:endParaRPr/>
          </a:p>
        </p:txBody>
      </p:sp>
      <p:sp>
        <p:nvSpPr>
          <p:cNvPr id="347" name="Google Shape;347;p28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TRAIN/TEST SPLIT</a:t>
            </a:r>
            <a:endParaRPr/>
          </a:p>
        </p:txBody>
      </p:sp>
      <p:sp>
        <p:nvSpPr>
          <p:cNvPr id="348" name="Google Shape;348;p28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9"/>
          <p:cNvSpPr txBox="1"/>
          <p:nvPr/>
        </p:nvSpPr>
        <p:spPr>
          <a:xfrm>
            <a:off x="581025" y="2227064"/>
            <a:ext cx="110299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Evaluation on </a:t>
            </a: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Test Data</a:t>
            </a:r>
            <a:endParaRPr/>
          </a:p>
        </p:txBody>
      </p:sp>
      <p:graphicFrame>
        <p:nvGraphicFramePr>
          <p:cNvPr id="355" name="Google Shape;355;p29"/>
          <p:cNvGraphicFramePr/>
          <p:nvPr/>
        </p:nvGraphicFramePr>
        <p:xfrm>
          <a:off x="581025" y="2973734"/>
          <a:ext cx="11029950" cy="2857375"/>
        </p:xfrm>
        <a:graphic>
          <a:graphicData uri="http://schemas.openxmlformats.org/drawingml/2006/table">
            <a:tbl>
              <a:tblPr firstRow="1" bandRow="1">
                <a:noFill/>
                <a:tableStyleId>{43C1ED1C-5588-4F70-87C8-0480C8870130}</a:tableStyleId>
              </a:tblPr>
              <a:tblGrid>
                <a:gridCol w="1755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A64D79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Metric</a:t>
                      </a:r>
                      <a:endParaRPr>
                        <a:solidFill>
                          <a:srgbClr val="A64D79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A64D79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Value</a:t>
                      </a:r>
                      <a:endParaRPr>
                        <a:solidFill>
                          <a:srgbClr val="A64D79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A64D79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Description</a:t>
                      </a:r>
                      <a:endParaRPr>
                        <a:solidFill>
                          <a:srgbClr val="A64D79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6B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783F0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R² Score</a:t>
                      </a:r>
                      <a:endParaRPr>
                        <a:solidFill>
                          <a:srgbClr val="783F04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783F0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0.99998</a:t>
                      </a:r>
                      <a:endParaRPr>
                        <a:solidFill>
                          <a:srgbClr val="783F04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783F0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Explains 99.9% of variance. Excellent fit.</a:t>
                      </a:r>
                      <a:endParaRPr>
                        <a:solidFill>
                          <a:srgbClr val="783F04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783F0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RMSE</a:t>
                      </a:r>
                      <a:endParaRPr>
                        <a:solidFill>
                          <a:srgbClr val="783F04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783F0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0.03846</a:t>
                      </a:r>
                      <a:endParaRPr>
                        <a:solidFill>
                          <a:srgbClr val="783F04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783F0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Root Mean Squared Error (Low error magnitude).</a:t>
                      </a:r>
                      <a:endParaRPr>
                        <a:solidFill>
                          <a:srgbClr val="783F04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783F0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MAE</a:t>
                      </a:r>
                      <a:endParaRPr>
                        <a:solidFill>
                          <a:srgbClr val="783F04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783F0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0.01622</a:t>
                      </a:r>
                      <a:endParaRPr>
                        <a:solidFill>
                          <a:srgbClr val="783F04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783F0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Mean Absolute Error.</a:t>
                      </a:r>
                      <a:endParaRPr>
                        <a:solidFill>
                          <a:srgbClr val="783F04"/>
                        </a:solidFill>
                        <a:highlight>
                          <a:srgbClr val="00FFFF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783F0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MSE</a:t>
                      </a:r>
                      <a:endParaRPr>
                        <a:solidFill>
                          <a:srgbClr val="783F04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783F0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0.00148</a:t>
                      </a:r>
                      <a:endParaRPr>
                        <a:solidFill>
                          <a:srgbClr val="783F04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783F0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Mean Squared Error.</a:t>
                      </a:r>
                      <a:endParaRPr>
                        <a:solidFill>
                          <a:srgbClr val="783F04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6" name="Google Shape;356;p29"/>
          <p:cNvSpPr/>
          <p:nvPr/>
        </p:nvSpPr>
        <p:spPr>
          <a:xfrm>
            <a:off x="581025" y="3524250"/>
            <a:ext cx="1755427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9"/>
          <p:cNvSpPr/>
          <p:nvPr/>
        </p:nvSpPr>
        <p:spPr>
          <a:xfrm>
            <a:off x="2336452" y="3524250"/>
            <a:ext cx="1771947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9"/>
          <p:cNvSpPr/>
          <p:nvPr/>
        </p:nvSpPr>
        <p:spPr>
          <a:xfrm>
            <a:off x="4108400" y="3524250"/>
            <a:ext cx="7502574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9"/>
          <p:cNvSpPr/>
          <p:nvPr/>
        </p:nvSpPr>
        <p:spPr>
          <a:xfrm>
            <a:off x="581025" y="4108102"/>
            <a:ext cx="175542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9"/>
          <p:cNvSpPr/>
          <p:nvPr/>
        </p:nvSpPr>
        <p:spPr>
          <a:xfrm>
            <a:off x="2336452" y="4108102"/>
            <a:ext cx="177194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9"/>
          <p:cNvSpPr/>
          <p:nvPr/>
        </p:nvSpPr>
        <p:spPr>
          <a:xfrm>
            <a:off x="4108400" y="4108102"/>
            <a:ext cx="75025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9"/>
          <p:cNvSpPr/>
          <p:nvPr/>
        </p:nvSpPr>
        <p:spPr>
          <a:xfrm>
            <a:off x="581025" y="4677667"/>
            <a:ext cx="175542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9"/>
          <p:cNvSpPr/>
          <p:nvPr/>
        </p:nvSpPr>
        <p:spPr>
          <a:xfrm>
            <a:off x="2336452" y="4677667"/>
            <a:ext cx="177194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9"/>
          <p:cNvSpPr/>
          <p:nvPr/>
        </p:nvSpPr>
        <p:spPr>
          <a:xfrm>
            <a:off x="4108400" y="4677667"/>
            <a:ext cx="75025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9"/>
          <p:cNvSpPr/>
          <p:nvPr/>
        </p:nvSpPr>
        <p:spPr>
          <a:xfrm>
            <a:off x="581025" y="5247233"/>
            <a:ext cx="175542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9"/>
          <p:cNvSpPr/>
          <p:nvPr/>
        </p:nvSpPr>
        <p:spPr>
          <a:xfrm>
            <a:off x="2336452" y="5247233"/>
            <a:ext cx="177194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9"/>
          <p:cNvSpPr/>
          <p:nvPr/>
        </p:nvSpPr>
        <p:spPr>
          <a:xfrm>
            <a:off x="4108400" y="5247233"/>
            <a:ext cx="75025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9"/>
          <p:cNvSpPr/>
          <p:nvPr/>
        </p:nvSpPr>
        <p:spPr>
          <a:xfrm>
            <a:off x="581025" y="5816798"/>
            <a:ext cx="175542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9"/>
          <p:cNvSpPr/>
          <p:nvPr/>
        </p:nvSpPr>
        <p:spPr>
          <a:xfrm>
            <a:off x="2336452" y="5816798"/>
            <a:ext cx="177194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9"/>
          <p:cNvSpPr/>
          <p:nvPr/>
        </p:nvSpPr>
        <p:spPr>
          <a:xfrm>
            <a:off x="4108400" y="5816798"/>
            <a:ext cx="75025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9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MODEL PERFORMANCE</a:t>
            </a:r>
            <a:endParaRPr/>
          </a:p>
        </p:txBody>
      </p:sp>
      <p:sp>
        <p:nvSpPr>
          <p:cNvPr id="372" name="Google Shape;372;p29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47900"/>
            <a:ext cx="522922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0"/>
          <p:cNvSpPr txBox="1"/>
          <p:nvPr/>
        </p:nvSpPr>
        <p:spPr>
          <a:xfrm>
            <a:off x="581025" y="2634704"/>
            <a:ext cx="5490686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VISUAL CONFIRMATION</a:t>
            </a:r>
            <a:endParaRPr/>
          </a:p>
        </p:txBody>
      </p:sp>
      <p:sp>
        <p:nvSpPr>
          <p:cNvPr id="380" name="Google Shape;380;p30"/>
          <p:cNvSpPr txBox="1"/>
          <p:nvPr/>
        </p:nvSpPr>
        <p:spPr>
          <a:xfrm>
            <a:off x="581025" y="3196679"/>
            <a:ext cx="52292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scatter plot compares Actual MEDV vs. Predicted MEDV.</a:t>
            </a:r>
            <a:endParaRPr/>
          </a:p>
        </p:txBody>
      </p:sp>
      <p:sp>
        <p:nvSpPr>
          <p:cNvPr id="381" name="Google Shape;381;p30"/>
          <p:cNvSpPr txBox="1"/>
          <p:nvPr/>
        </p:nvSpPr>
        <p:spPr>
          <a:xfrm>
            <a:off x="866775" y="3642419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points tightly align along the diagonal.</a:t>
            </a:r>
            <a:endParaRPr/>
          </a:p>
        </p:txBody>
      </p:sp>
      <p:sp>
        <p:nvSpPr>
          <p:cNvPr id="382" name="Google Shape;382;p30"/>
          <p:cNvSpPr txBox="1"/>
          <p:nvPr/>
        </p:nvSpPr>
        <p:spPr>
          <a:xfrm>
            <a:off x="866775" y="4059584"/>
            <a:ext cx="4943475" cy="29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alignment confirms the high    R   2    score.</a:t>
            </a:r>
            <a:endParaRPr/>
          </a:p>
        </p:txBody>
      </p:sp>
      <p:sp>
        <p:nvSpPr>
          <p:cNvPr id="383" name="Google Shape;383;p30"/>
          <p:cNvSpPr txBox="1"/>
          <p:nvPr/>
        </p:nvSpPr>
        <p:spPr>
          <a:xfrm>
            <a:off x="866775" y="4493865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Demonstrates the model's reliability in predicting housing prices across the dataset range.</a:t>
            </a:r>
            <a:endParaRPr/>
          </a:p>
        </p:txBody>
      </p:sp>
      <p:sp>
        <p:nvSpPr>
          <p:cNvPr id="384" name="Google Shape;384;p30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ACTUAL VS PREDICTED</a:t>
            </a:r>
            <a:endParaRPr/>
          </a:p>
        </p:txBody>
      </p:sp>
      <p:sp>
        <p:nvSpPr>
          <p:cNvPr id="385" name="Google Shape;385;p30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6" name="Google Shape;386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661469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078634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51291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F27FD0-9ED0-723E-7426-D83ED7FD1F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1736" y="2123119"/>
            <a:ext cx="5638893" cy="358331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47900"/>
            <a:ext cx="522922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1"/>
          <p:cNvSpPr txBox="1"/>
          <p:nvPr/>
        </p:nvSpPr>
        <p:spPr>
          <a:xfrm>
            <a:off x="581025" y="2601366"/>
            <a:ext cx="5490686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FLASK INTEGRATION</a:t>
            </a:r>
            <a:endParaRPr/>
          </a:p>
        </p:txBody>
      </p:sp>
      <p:pic>
        <p:nvPicPr>
          <p:cNvPr id="397" name="Google Shape;397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257425"/>
            <a:ext cx="521017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1"/>
          <p:cNvSpPr txBox="1"/>
          <p:nvPr/>
        </p:nvSpPr>
        <p:spPr>
          <a:xfrm>
            <a:off x="866775" y="3144291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Web Framework: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Flask (Python).</a:t>
            </a:r>
            <a:endParaRPr/>
          </a:p>
        </p:txBody>
      </p:sp>
      <p:sp>
        <p:nvSpPr>
          <p:cNvPr id="399" name="Google Shape;399;p31"/>
          <p:cNvSpPr txBox="1"/>
          <p:nvPr/>
        </p:nvSpPr>
        <p:spPr>
          <a:xfrm>
            <a:off x="866775" y="3561457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Serialization: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trained PySpark model is serialized and loaded into the app.</a:t>
            </a:r>
            <a:endParaRPr/>
          </a:p>
        </p:txBody>
      </p:sp>
      <p:sp>
        <p:nvSpPr>
          <p:cNvPr id="400" name="Google Shape;400;p31"/>
          <p:cNvSpPr txBox="1"/>
          <p:nvPr/>
        </p:nvSpPr>
        <p:spPr>
          <a:xfrm>
            <a:off x="866775" y="4252912"/>
            <a:ext cx="49434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Inference: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App accepts user input via a web form, applies the saved scaler transformation, and returns a real-time price prediction.</a:t>
            </a:r>
            <a:endParaRPr/>
          </a:p>
        </p:txBody>
      </p:sp>
      <p:sp>
        <p:nvSpPr>
          <p:cNvPr id="401" name="Google Shape;401;p31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DEPLOYMENT ARCHITECTURE</a:t>
            </a:r>
            <a:endParaRPr/>
          </a:p>
        </p:txBody>
      </p:sp>
      <p:sp>
        <p:nvSpPr>
          <p:cNvPr id="402" name="Google Shape;402;p31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3" name="Google Shape;403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16334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580507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271962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47900"/>
            <a:ext cx="522922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2"/>
          <p:cNvSpPr txBox="1"/>
          <p:nvPr/>
        </p:nvSpPr>
        <p:spPr>
          <a:xfrm>
            <a:off x="581025" y="2410866"/>
            <a:ext cx="5490686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USER-FRIENDLY INTERFACE</a:t>
            </a:r>
            <a:endParaRPr/>
          </a:p>
        </p:txBody>
      </p:sp>
      <p:sp>
        <p:nvSpPr>
          <p:cNvPr id="413" name="Google Shape;413;p32"/>
          <p:cNvSpPr txBox="1"/>
          <p:nvPr/>
        </p:nvSpPr>
        <p:spPr>
          <a:xfrm>
            <a:off x="581025" y="2972841"/>
            <a:ext cx="52292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clean form allows users to input housing parameters such as:</a:t>
            </a:r>
            <a:endParaRPr/>
          </a:p>
        </p:txBody>
      </p:sp>
      <p:sp>
        <p:nvSpPr>
          <p:cNvPr id="414" name="Google Shape;414;p32"/>
          <p:cNvSpPr txBox="1"/>
          <p:nvPr/>
        </p:nvSpPr>
        <p:spPr>
          <a:xfrm>
            <a:off x="581025" y="4698652"/>
            <a:ext cx="52292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Result: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Instantly displays the "Prediction Value" upon submission.</a:t>
            </a:r>
            <a:endParaRPr/>
          </a:p>
        </p:txBody>
      </p:sp>
      <p:sp>
        <p:nvSpPr>
          <p:cNvPr id="415" name="Google Shape;415;p32"/>
          <p:cNvSpPr txBox="1"/>
          <p:nvPr/>
        </p:nvSpPr>
        <p:spPr>
          <a:xfrm>
            <a:off x="866775" y="3418582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Crime Rate</a:t>
            </a:r>
            <a:endParaRPr/>
          </a:p>
        </p:txBody>
      </p:sp>
      <p:sp>
        <p:nvSpPr>
          <p:cNvPr id="416" name="Google Shape;416;p32"/>
          <p:cNvSpPr txBox="1"/>
          <p:nvPr/>
        </p:nvSpPr>
        <p:spPr>
          <a:xfrm>
            <a:off x="866775" y="3835747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Number of Rooms</a:t>
            </a:r>
            <a:endParaRPr/>
          </a:p>
        </p:txBody>
      </p:sp>
      <p:sp>
        <p:nvSpPr>
          <p:cNvPr id="417" name="Google Shape;417;p32"/>
          <p:cNvSpPr txBox="1"/>
          <p:nvPr/>
        </p:nvSpPr>
        <p:spPr>
          <a:xfrm>
            <a:off x="866775" y="4252912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Tax Rate</a:t>
            </a:r>
            <a:endParaRPr/>
          </a:p>
        </p:txBody>
      </p:sp>
      <p:sp>
        <p:nvSpPr>
          <p:cNvPr id="418" name="Google Shape;418;p32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WEB UI DEMO</a:t>
            </a:r>
            <a:endParaRPr/>
          </a:p>
        </p:txBody>
      </p:sp>
      <p:sp>
        <p:nvSpPr>
          <p:cNvPr id="419" name="Google Shape;419;p32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0" name="Google Shape;420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43763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854797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27196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2"/>
          <p:cNvPicPr preferRelativeResize="0"/>
          <p:nvPr/>
        </p:nvPicPr>
        <p:blipFill rotWithShape="1">
          <a:blip r:embed="rId6">
            <a:alphaModFix/>
          </a:blip>
          <a:srcRect t="4580"/>
          <a:stretch/>
        </p:blipFill>
        <p:spPr>
          <a:xfrm>
            <a:off x="6488200" y="1588425"/>
            <a:ext cx="5122775" cy="408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27969"/>
            <a:ext cx="3486150" cy="3173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27969"/>
            <a:ext cx="3486150" cy="3173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327969"/>
            <a:ext cx="3486150" cy="3173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623244"/>
            <a:ext cx="289560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3"/>
          <p:cNvSpPr txBox="1"/>
          <p:nvPr/>
        </p:nvSpPr>
        <p:spPr>
          <a:xfrm>
            <a:off x="803910" y="3375719"/>
            <a:ext cx="304038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SCALABILITY</a:t>
            </a:r>
            <a:endParaRPr/>
          </a:p>
        </p:txBody>
      </p:sp>
      <p:sp>
        <p:nvSpPr>
          <p:cNvPr id="434" name="Google Shape;434;p33"/>
          <p:cNvSpPr txBox="1"/>
          <p:nvPr/>
        </p:nvSpPr>
        <p:spPr>
          <a:xfrm>
            <a:off x="876300" y="3937694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Implemented an end-to-end Big Data pipeline capable of scaling with data volume.</a:t>
            </a:r>
            <a:endParaRPr/>
          </a:p>
        </p:txBody>
      </p:sp>
      <p:pic>
        <p:nvPicPr>
          <p:cNvPr id="435" name="Google Shape;435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8200" y="2623244"/>
            <a:ext cx="289560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3"/>
          <p:cNvSpPr txBox="1"/>
          <p:nvPr/>
        </p:nvSpPr>
        <p:spPr>
          <a:xfrm>
            <a:off x="4575810" y="3375719"/>
            <a:ext cx="304038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ACCURACY</a:t>
            </a:r>
            <a:endParaRPr/>
          </a:p>
        </p:txBody>
      </p:sp>
      <p:sp>
        <p:nvSpPr>
          <p:cNvPr id="437" name="Google Shape;437;p33"/>
          <p:cNvSpPr txBox="1"/>
          <p:nvPr/>
        </p:nvSpPr>
        <p:spPr>
          <a:xfrm>
            <a:off x="4648200" y="3937694"/>
            <a:ext cx="2895600" cy="839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Random Forest Regressor outperformed expectations with an    R   2    of ~1.0.</a:t>
            </a:r>
            <a:endParaRPr/>
          </a:p>
        </p:txBody>
      </p:sp>
      <p:pic>
        <p:nvPicPr>
          <p:cNvPr id="438" name="Google Shape;438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20100" y="2623244"/>
            <a:ext cx="289560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3"/>
          <p:cNvSpPr txBox="1"/>
          <p:nvPr/>
        </p:nvSpPr>
        <p:spPr>
          <a:xfrm>
            <a:off x="8347710" y="3375719"/>
            <a:ext cx="304038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USABILITY</a:t>
            </a:r>
            <a:endParaRPr/>
          </a:p>
        </p:txBody>
      </p:sp>
      <p:sp>
        <p:nvSpPr>
          <p:cNvPr id="440" name="Google Shape;440;p33"/>
          <p:cNvSpPr txBox="1"/>
          <p:nvPr/>
        </p:nvSpPr>
        <p:spPr>
          <a:xfrm>
            <a:off x="8420100" y="3937694"/>
            <a:ext cx="28956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Flask deployment bridges the gap between complex backend analytics and end-user accessibility.</a:t>
            </a:r>
            <a:endParaRPr/>
          </a:p>
        </p:txBody>
      </p:sp>
      <p:pic>
        <p:nvPicPr>
          <p:cNvPr id="441" name="Google Shape;441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24075" y="2670869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3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67400" y="267086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3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582150" y="2670869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33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CONCLUSION</a:t>
            </a:r>
            <a:endParaRPr/>
          </a:p>
        </p:txBody>
      </p:sp>
      <p:sp>
        <p:nvSpPr>
          <p:cNvPr id="445" name="Google Shape;445;p33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27969"/>
            <a:ext cx="3486150" cy="3173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27969"/>
            <a:ext cx="3486150" cy="3173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327969"/>
            <a:ext cx="3486150" cy="3173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3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623244"/>
            <a:ext cx="289560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4"/>
          <p:cNvSpPr txBox="1"/>
          <p:nvPr/>
        </p:nvSpPr>
        <p:spPr>
          <a:xfrm>
            <a:off x="803910" y="3375719"/>
            <a:ext cx="304038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TRUE STREAMING</a:t>
            </a:r>
            <a:endParaRPr/>
          </a:p>
        </p:txBody>
      </p:sp>
      <p:sp>
        <p:nvSpPr>
          <p:cNvPr id="456" name="Google Shape;456;p34"/>
          <p:cNvSpPr txBox="1"/>
          <p:nvPr/>
        </p:nvSpPr>
        <p:spPr>
          <a:xfrm>
            <a:off x="876300" y="3937694"/>
            <a:ext cx="28956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Upgrade from batch processing in HDFS to full stream processing using Spark Streaming directly from Kafka.</a:t>
            </a:r>
            <a:endParaRPr/>
          </a:p>
        </p:txBody>
      </p:sp>
      <p:pic>
        <p:nvPicPr>
          <p:cNvPr id="457" name="Google Shape;457;p3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8200" y="2623244"/>
            <a:ext cx="289560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4"/>
          <p:cNvSpPr txBox="1"/>
          <p:nvPr/>
        </p:nvSpPr>
        <p:spPr>
          <a:xfrm>
            <a:off x="4575810" y="3375719"/>
            <a:ext cx="304038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DEEP LEARNING</a:t>
            </a:r>
            <a:endParaRPr/>
          </a:p>
        </p:txBody>
      </p:sp>
      <p:sp>
        <p:nvSpPr>
          <p:cNvPr id="459" name="Google Shape;459;p34"/>
          <p:cNvSpPr txBox="1"/>
          <p:nvPr/>
        </p:nvSpPr>
        <p:spPr>
          <a:xfrm>
            <a:off x="4648200" y="3937694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Implement Deep Learning models using TensorFlow or PyTorch for larger datasets.</a:t>
            </a:r>
            <a:endParaRPr/>
          </a:p>
        </p:txBody>
      </p:sp>
      <p:sp>
        <p:nvSpPr>
          <p:cNvPr id="460" name="Google Shape;460;p34"/>
          <p:cNvSpPr txBox="1"/>
          <p:nvPr/>
        </p:nvSpPr>
        <p:spPr>
          <a:xfrm>
            <a:off x="8347710" y="3375719"/>
            <a:ext cx="304038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Oswald"/>
                <a:ea typeface="Oswald"/>
                <a:cs typeface="Oswald"/>
                <a:sym typeface="Oswald"/>
              </a:rPr>
              <a:t>EXPLAINABILITY</a:t>
            </a:r>
            <a:endParaRPr/>
          </a:p>
        </p:txBody>
      </p:sp>
      <p:sp>
        <p:nvSpPr>
          <p:cNvPr id="461" name="Google Shape;461;p34"/>
          <p:cNvSpPr txBox="1"/>
          <p:nvPr/>
        </p:nvSpPr>
        <p:spPr>
          <a:xfrm>
            <a:off x="8420100" y="3937694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Integrate SHAP (SHapley Additive exPlanations) to provide transparency on predictions.</a:t>
            </a:r>
            <a:endParaRPr/>
          </a:p>
        </p:txBody>
      </p:sp>
      <p:pic>
        <p:nvPicPr>
          <p:cNvPr id="462" name="Google Shape;462;p3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24075" y="2670869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67400" y="267086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34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FUTURE ENHANCEMENTS</a:t>
            </a:r>
            <a:endParaRPr/>
          </a:p>
        </p:txBody>
      </p:sp>
      <p:sp>
        <p:nvSpPr>
          <p:cNvPr id="465" name="Google Shape;465;p34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6" name="Google Shape;466;p3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20100" y="2733619"/>
            <a:ext cx="2895600" cy="56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35"/>
          <p:cNvSpPr txBox="1"/>
          <p:nvPr/>
        </p:nvSpPr>
        <p:spPr>
          <a:xfrm>
            <a:off x="866775" y="2871787"/>
            <a:ext cx="10744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Apache Spark. (n.d.). </a:t>
            </a:r>
            <a:r>
              <a:rPr lang="en-US" sz="135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MLlib: Main Guide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473" name="Google Shape;473;p35"/>
          <p:cNvSpPr txBox="1"/>
          <p:nvPr/>
        </p:nvSpPr>
        <p:spPr>
          <a:xfrm>
            <a:off x="866775" y="3288952"/>
            <a:ext cx="10744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Harrison, D., &amp; Rubinfeld, D.L. (1978). </a:t>
            </a:r>
            <a:r>
              <a:rPr lang="en-US" sz="135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Hedonic prices and the demand for clean air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J. Environ. Economics.</a:t>
            </a:r>
            <a:endParaRPr/>
          </a:p>
        </p:txBody>
      </p:sp>
      <p:sp>
        <p:nvSpPr>
          <p:cNvPr id="474" name="Google Shape;474;p35"/>
          <p:cNvSpPr txBox="1"/>
          <p:nvPr/>
        </p:nvSpPr>
        <p:spPr>
          <a:xfrm>
            <a:off x="866775" y="3706117"/>
            <a:ext cx="10744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Apache Flume &amp; Kafka Documentation.</a:t>
            </a:r>
            <a:endParaRPr/>
          </a:p>
        </p:txBody>
      </p:sp>
      <p:sp>
        <p:nvSpPr>
          <p:cNvPr id="475" name="Google Shape;475;p35"/>
          <p:cNvSpPr txBox="1"/>
          <p:nvPr/>
        </p:nvSpPr>
        <p:spPr>
          <a:xfrm>
            <a:off x="866775" y="4123283"/>
            <a:ext cx="10744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Grinberg, M. (2018). </a:t>
            </a:r>
            <a:r>
              <a:rPr lang="en-US" sz="135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Flask Web Development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O'Reilly Media.</a:t>
            </a:r>
            <a:endParaRPr/>
          </a:p>
        </p:txBody>
      </p:sp>
      <p:sp>
        <p:nvSpPr>
          <p:cNvPr id="476" name="Google Shape;476;p35"/>
          <p:cNvSpPr txBox="1"/>
          <p:nvPr/>
        </p:nvSpPr>
        <p:spPr>
          <a:xfrm>
            <a:off x="866775" y="4540448"/>
            <a:ext cx="10744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Project Report: "BOSTON HOUSE PRICE PREDICTION" by Praveen Neeli &amp; Kalluri Pardhu Sankar.</a:t>
            </a:r>
            <a:endParaRPr/>
          </a:p>
        </p:txBody>
      </p:sp>
      <p:sp>
        <p:nvSpPr>
          <p:cNvPr id="477" name="Google Shape;477;p35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Oswald"/>
                <a:ea typeface="Oswald"/>
                <a:cs typeface="Oswald"/>
                <a:sym typeface="Oswald"/>
              </a:rPr>
              <a:t>REFERENCES</a:t>
            </a:r>
            <a:endParaRPr/>
          </a:p>
        </p:txBody>
      </p:sp>
      <p:sp>
        <p:nvSpPr>
          <p:cNvPr id="478" name="Google Shape;478;p35"/>
          <p:cNvSpPr/>
          <p:nvPr/>
        </p:nvSpPr>
        <p:spPr>
          <a:xfrm>
            <a:off x="581025" y="581025"/>
            <a:ext cx="47625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9" name="Google Shape;479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890837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30800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725167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142333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559498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1178</Words>
  <Application>Microsoft Office PowerPoint</Application>
  <PresentationFormat>Widescreen</PresentationFormat>
  <Paragraphs>150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Inter</vt:lpstr>
      <vt:lpstr>Calibri</vt:lpstr>
      <vt:lpstr>Oswald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Neeli Praveen</cp:lastModifiedBy>
  <cp:revision>2</cp:revision>
  <dcterms:modified xsi:type="dcterms:W3CDTF">2025-12-02T04:41:52Z</dcterms:modified>
</cp:coreProperties>
</file>